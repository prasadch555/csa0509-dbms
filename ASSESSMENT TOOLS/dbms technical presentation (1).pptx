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4" r:id="rId13"/>
    <p:sldId id="267" r:id="rId14"/>
    <p:sldId id="268" r:id="rId15"/>
    <p:sldId id="269" r:id="rId16"/>
    <p:sldId id="275" r:id="rId17"/>
    <p:sldId id="270" r:id="rId18"/>
    <p:sldId id="271" r:id="rId19"/>
    <p:sldId id="272" r:id="rId20"/>
    <p:sldId id="276" r:id="rId21"/>
    <p:sldId id="273" r:id="rId22"/>
  </p:sldIdLst>
  <p:sldSz cx="18288000" cy="10287000"/>
  <p:notesSz cx="6858000" cy="9144000"/>
  <p:embeddedFontLst>
    <p:embeddedFont>
      <p:font typeface="Century Gothic" panose="020B0502020202020204" pitchFamily="34" charset="0"/>
      <p:regular r:id="rId23"/>
      <p:bold r:id="rId24"/>
      <p:italic r:id="rId25"/>
      <p:boldItalic r:id="rId26"/>
    </p:embeddedFont>
    <p:embeddedFont>
      <p:font typeface="Times New Roman MT Condensed Bold" panose="020B0604020202020204" charset="0"/>
      <p:regular r:id="rId27"/>
    </p:embeddedFont>
    <p:embeddedFont>
      <p:font typeface="Wingdings 3" panose="05040102010807070707" pitchFamily="18" charset="2"/>
      <p:regular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8" d="100"/>
          <a:sy n="58" d="100"/>
        </p:scale>
        <p:origin x="514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5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2433" y="3149600"/>
            <a:ext cx="13238487" cy="4016472"/>
          </a:xfrm>
        </p:spPr>
        <p:txBody>
          <a:bodyPr anchor="b"/>
          <a:lstStyle>
            <a:lvl1pPr>
              <a:defRPr sz="8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732433" y="7166070"/>
            <a:ext cx="13238487" cy="129213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5238477" y="2688337"/>
            <a:ext cx="1485899" cy="4571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13427964" y="4841749"/>
            <a:ext cx="5789693" cy="457202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528811" y="443594"/>
            <a:ext cx="1257299" cy="1151531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70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2432" y="3905250"/>
            <a:ext cx="13238489" cy="5124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683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4016468"/>
            <a:ext cx="6526538" cy="3425736"/>
          </a:xfrm>
        </p:spPr>
        <p:txBody>
          <a:bodyPr anchor="ctr"/>
          <a:lstStyle>
            <a:lvl1pPr algn="l">
              <a:defRPr sz="6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43339" y="4016466"/>
            <a:ext cx="5636318" cy="3425736"/>
          </a:xfrm>
        </p:spPr>
        <p:txBody>
          <a:bodyPr anchor="ctr"/>
          <a:lstStyle>
            <a:lvl1pPr marL="0" indent="0" algn="l">
              <a:buNone/>
              <a:defRPr sz="3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184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31" y="3905251"/>
            <a:ext cx="7237737" cy="512445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13069" y="3905250"/>
            <a:ext cx="7237739" cy="51244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99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2" y="3905250"/>
            <a:ext cx="7237736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2431" y="4769644"/>
            <a:ext cx="7237737" cy="426005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313069" y="3905250"/>
            <a:ext cx="7237739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/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313069" y="4769644"/>
            <a:ext cx="7237739" cy="4260059"/>
          </a:xfrm>
        </p:spPr>
        <p:txBody>
          <a:bodyPr>
            <a:normAutofit/>
          </a:bodyPr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69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732432" y="1460502"/>
            <a:ext cx="13142120" cy="106044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899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718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3" y="1943100"/>
            <a:ext cx="4189737" cy="2400300"/>
          </a:xfrm>
        </p:spPr>
        <p:txBody>
          <a:bodyPr anchor="b"/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71719" y="2171700"/>
            <a:ext cx="7785099" cy="6858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732431" y="4693921"/>
            <a:ext cx="4189737" cy="4343399"/>
          </a:xfrm>
        </p:spPr>
        <p:txBody>
          <a:bodyPr/>
          <a:lstStyle>
            <a:lvl1pPr marL="0" indent="0">
              <a:buNone/>
              <a:defRPr sz="21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151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3" y="2540000"/>
            <a:ext cx="5797701" cy="2603501"/>
          </a:xfrm>
        </p:spPr>
        <p:txBody>
          <a:bodyPr anchor="b">
            <a:normAutofit/>
          </a:bodyPr>
          <a:lstStyle>
            <a:lvl1pPr algn="l"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21806" y="1714500"/>
            <a:ext cx="4840790" cy="6858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732431" y="5486400"/>
            <a:ext cx="5788818" cy="2057400"/>
          </a:xfrm>
        </p:spPr>
        <p:txBody>
          <a:bodyPr>
            <a:normAutofit/>
          </a:bodyPr>
          <a:lstStyle>
            <a:lvl1pPr marL="0" indent="0">
              <a:buNone/>
              <a:defRPr sz="21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33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7454891"/>
            <a:ext cx="13238489" cy="85010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32432" y="1028700"/>
            <a:ext cx="13238489" cy="5143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1" y="8304998"/>
            <a:ext cx="13238487" cy="74056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0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3197" y="1595126"/>
            <a:ext cx="13247724" cy="2059479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5314950"/>
            <a:ext cx="13238489" cy="3714750"/>
          </a:xfrm>
        </p:spPr>
        <p:txBody>
          <a:bodyPr anchor="ctr">
            <a:normAutofit/>
          </a:bodyPr>
          <a:lstStyle>
            <a:lvl1pPr marL="0" indent="0">
              <a:buNone/>
              <a:defRPr sz="27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23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1322349" y="911004"/>
            <a:ext cx="12028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4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14826688" y="3920681"/>
            <a:ext cx="9791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4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72817" y="1473201"/>
            <a:ext cx="12680859" cy="4044948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2918918" y="5518149"/>
            <a:ext cx="11596829" cy="513261"/>
          </a:xfrm>
        </p:spPr>
        <p:txBody>
          <a:bodyPr anchor="t">
            <a:normAutofit/>
          </a:bodyPr>
          <a:lstStyle>
            <a:lvl1pPr marL="0" indent="0">
              <a:buNone/>
              <a:defRPr lang="en-US" sz="21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2432" y="7543799"/>
            <a:ext cx="13867346" cy="1496786"/>
          </a:xfrm>
        </p:spPr>
        <p:txBody>
          <a:bodyPr anchor="ctr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9914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1" y="3556001"/>
            <a:ext cx="13238490" cy="2733771"/>
          </a:xfrm>
        </p:spPr>
        <p:txBody>
          <a:bodyPr anchor="b"/>
          <a:lstStyle>
            <a:lvl1pPr algn="l">
              <a:defRPr sz="6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2" y="7537451"/>
            <a:ext cx="13238489" cy="1290600"/>
          </a:xfrm>
        </p:spPr>
        <p:txBody>
          <a:bodyPr anchor="t"/>
          <a:lstStyle>
            <a:lvl1pPr marL="0" indent="0" algn="l">
              <a:buNone/>
              <a:defRPr sz="3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811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1460502"/>
            <a:ext cx="13238489" cy="1060446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1" y="3905253"/>
            <a:ext cx="4712817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732430" y="4769647"/>
            <a:ext cx="4712819" cy="4270940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69082" y="3905250"/>
            <a:ext cx="4720514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6769082" y="4769645"/>
            <a:ext cx="4720514" cy="4270940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11832203" y="3905252"/>
            <a:ext cx="4718595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11832494" y="4769643"/>
            <a:ext cx="4718304" cy="4270940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6605956" y="3854450"/>
            <a:ext cx="0" cy="523874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11658602" y="3854450"/>
            <a:ext cx="0" cy="523874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6103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1460502"/>
            <a:ext cx="13238489" cy="1060446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1" y="6799266"/>
            <a:ext cx="4575657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2001830" y="3905250"/>
            <a:ext cx="4036863" cy="2387265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732431" y="7663659"/>
            <a:ext cx="4575657" cy="1376928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53298" y="6799267"/>
            <a:ext cx="4575657" cy="864395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7122694" y="3905250"/>
            <a:ext cx="4036865" cy="2387265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6855258" y="7663658"/>
            <a:ext cx="4575657" cy="1376928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11974163" y="6799268"/>
            <a:ext cx="4576643" cy="864393"/>
          </a:xfrm>
        </p:spPr>
        <p:txBody>
          <a:bodyPr anchor="b">
            <a:noAutofit/>
          </a:bodyPr>
          <a:lstStyle>
            <a:lvl1pPr marL="0" indent="0">
              <a:buNone/>
              <a:defRPr sz="36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12244547" y="3905250"/>
            <a:ext cx="4036863" cy="2387265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11974163" y="7663656"/>
            <a:ext cx="4576644" cy="1376928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6608747" y="3854450"/>
            <a:ext cx="0" cy="523874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11696703" y="3854450"/>
            <a:ext cx="0" cy="523874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41667" y="9587758"/>
            <a:ext cx="5466423" cy="457202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680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2432" y="1460502"/>
            <a:ext cx="13238489" cy="106044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32" y="3905250"/>
            <a:ext cx="13238489" cy="512445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043159" y="9587758"/>
            <a:ext cx="1485899" cy="457199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2992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77853" y="1917701"/>
            <a:ext cx="2114948" cy="712288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32" y="1917701"/>
            <a:ext cx="9384038" cy="71228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979657" y="9587758"/>
            <a:ext cx="1488203" cy="457199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66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8288000" cy="10287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732432" y="1460502"/>
            <a:ext cx="13142120" cy="10604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32" y="3905250"/>
            <a:ext cx="13142120" cy="5124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979657" y="9587758"/>
            <a:ext cx="1485899" cy="4571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 b="1" i="0">
                <a:solidFill>
                  <a:schemeClr val="accent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41666" y="9587758"/>
            <a:ext cx="5789693" cy="4572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5656718" y="0"/>
            <a:ext cx="10287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5528811" y="443594"/>
            <a:ext cx="1257299" cy="11515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4200" b="0" i="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03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685800" rtl="0" eaLnBrk="1" latinLnBrk="0" hangingPunct="1">
        <a:spcBef>
          <a:spcPct val="0"/>
        </a:spcBef>
        <a:buNone/>
        <a:defRPr sz="54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514350" indent="-51435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7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1114425" indent="-428625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714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1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2400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30861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37719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44577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51435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5829300" indent="-342900" algn="l" defTabSz="685800" rtl="0" eaLnBrk="1" latinLnBrk="0" hangingPunct="1">
        <a:spcBef>
          <a:spcPts val="15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6"/>
          <p:cNvSpPr txBox="1"/>
          <p:nvPr/>
        </p:nvSpPr>
        <p:spPr>
          <a:xfrm>
            <a:off x="746146" y="3616334"/>
            <a:ext cx="16795709" cy="1950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76"/>
              </a:lnSpc>
            </a:pPr>
            <a:r>
              <a:rPr lang="en-US" sz="4400" b="1" dirty="0">
                <a:solidFill>
                  <a:srgbClr val="303030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CASE-BASED SCENARIOS BY IDENTIFYING ENTITIES AND</a:t>
            </a:r>
          </a:p>
          <a:p>
            <a:pPr algn="ctr">
              <a:lnSpc>
                <a:spcPts val="8076"/>
              </a:lnSpc>
            </a:pPr>
            <a:r>
              <a:rPr lang="en-US" sz="4400" b="1" dirty="0">
                <a:solidFill>
                  <a:srgbClr val="303030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RELATIONSHIPS.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11135" y="6771244"/>
            <a:ext cx="8865731" cy="484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9"/>
              </a:lnSpc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CSA0509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96497D-56C2-D49D-DDFC-99399179B2F4}"/>
              </a:ext>
            </a:extLst>
          </p:cNvPr>
          <p:cNvSpPr txBox="1"/>
          <p:nvPr/>
        </p:nvSpPr>
        <p:spPr>
          <a:xfrm>
            <a:off x="13411200" y="8343900"/>
            <a:ext cx="40182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by,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CH. Durga Prasad(192425305)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8C2932-973E-A86F-4155-9A0D6964DD22}"/>
              </a:ext>
            </a:extLst>
          </p:cNvPr>
          <p:cNvSpPr txBox="1"/>
          <p:nvPr/>
        </p:nvSpPr>
        <p:spPr>
          <a:xfrm>
            <a:off x="2286000" y="8572500"/>
            <a:ext cx="21425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Guided by,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R . Kesavan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24000" y="3899873"/>
            <a:ext cx="10615127" cy="50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Online Library System – ER Diagram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Manages books and members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Tracks borrowing and returning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Stores library records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Uses ER model for database design</a:t>
            </a:r>
          </a:p>
          <a:p>
            <a:pPr algn="l">
              <a:lnSpc>
                <a:spcPct val="150000"/>
              </a:lnSpc>
            </a:pPr>
            <a:endParaRPr lang="en-US" sz="3699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-1963961" y="1366072"/>
            <a:ext cx="21222889" cy="1527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32"/>
              </a:lnSpc>
              <a:spcBef>
                <a:spcPct val="0"/>
              </a:spcBef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1.CREATE AND PRESENT AN ER DIAGRAM FOR AN ONLINE LIBRARY</a:t>
            </a:r>
          </a:p>
          <a:p>
            <a:pPr algn="ctr">
              <a:lnSpc>
                <a:spcPts val="6132"/>
              </a:lnSpc>
              <a:spcBef>
                <a:spcPct val="0"/>
              </a:spcBef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SYSTEM, EXPLAINING EACH COMPONENT CLEARLY.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00400" y="1257300"/>
            <a:ext cx="16367178" cy="807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01"/>
              </a:lnSpc>
            </a:pP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ER DIAGRAM COMPONENTS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828800" y="3314700"/>
            <a:ext cx="11737815" cy="6647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Entities: Real-world object (Book, Member)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Member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Book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Librarian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Loan</a:t>
            </a:r>
          </a:p>
          <a:p>
            <a:pPr algn="l"/>
            <a:endParaRPr lang="en-US" sz="24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Attributes: Describes an entity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Member ID, Name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Book ID, Title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Loan Date, Return Date</a:t>
            </a:r>
          </a:p>
          <a:p>
            <a:pPr marL="798828" lvl="1" indent="-399414" algn="l">
              <a:buFont typeface="Arial"/>
              <a:buChar char="•"/>
            </a:pPr>
            <a:endParaRPr lang="en-US" sz="24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Relationships: Connects entities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Member borrows Book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Librarian manages Loan</a:t>
            </a:r>
          </a:p>
          <a:p>
            <a:pPr algn="l"/>
            <a:endParaRPr lang="en-US" sz="24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Primary Key: Unique identifier (Book ID, Member ID)</a:t>
            </a:r>
          </a:p>
          <a:p>
            <a:pPr algn="l"/>
            <a:endParaRPr lang="en-US" sz="24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  <a:p>
            <a:pPr algn="l"/>
            <a:endParaRPr lang="en-US" sz="24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4704394" y="323356"/>
            <a:ext cx="9572184" cy="1418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65"/>
              </a:lnSpc>
            </a:pPr>
            <a:r>
              <a:rPr lang="en-US" sz="10315" b="1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2422C2-35AB-3838-FF93-61E2E4E8A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372" y="2324100"/>
            <a:ext cx="14479255" cy="72015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1104900"/>
            <a:ext cx="14935200" cy="15773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633"/>
              </a:lnSpc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2.PREPARE A PRESENTATION ON THE EER MODEL, DEMONSTRATING GENERALIZATION AND SPECIALIZATION WITH A UNIVERSITY CASE</a:t>
            </a:r>
          </a:p>
          <a:p>
            <a:pPr algn="l">
              <a:lnSpc>
                <a:spcPts val="3116"/>
              </a:lnSpc>
            </a:pPr>
            <a:endParaRPr lang="en-US" sz="3200" b="1" dirty="0">
              <a:solidFill>
                <a:schemeClr val="bg1"/>
              </a:solidFill>
              <a:latin typeface="Times New Roman" panose="02020603050405020304" pitchFamily="18" charset="0"/>
              <a:ea typeface="Times New Roman MT Condensed Bold"/>
              <a:cs typeface="Times New Roman" panose="02020603050405020304" pitchFamily="18" charset="0"/>
              <a:sym typeface="Times New Roman MT Condensed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16000" y="3619500"/>
            <a:ext cx="11737815" cy="50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Enhanced ER (EER) Model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Extension of ER model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Supports inheritance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Represents complex data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Uses specialization and generalization</a:t>
            </a:r>
          </a:p>
          <a:p>
            <a:pPr algn="l">
              <a:lnSpc>
                <a:spcPct val="150000"/>
              </a:lnSpc>
            </a:pPr>
            <a:endParaRPr lang="en-US" sz="3699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03904" y="1152525"/>
            <a:ext cx="12037072" cy="822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52"/>
              </a:lnSpc>
            </a:pPr>
            <a:r>
              <a:rPr lang="en-US" sz="40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UNIVERSITY CASE STUDY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676400" y="3225165"/>
            <a:ext cx="13942477" cy="5909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Superclass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Person</a:t>
            </a:r>
          </a:p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Specialized Subclasses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Student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Faculty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Staff</a:t>
            </a:r>
          </a:p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Each subclass inherits: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Person ID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Name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Address</a:t>
            </a:r>
          </a:p>
          <a:p>
            <a:pPr algn="l"/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Additional attributes: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Student → Semester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Faculty → Department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24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Staff → Designation</a:t>
            </a:r>
          </a:p>
          <a:p>
            <a:pPr marL="798828" lvl="1" indent="-399414" algn="l">
              <a:buFont typeface="Arial"/>
              <a:buChar char="•"/>
            </a:pPr>
            <a:endParaRPr lang="en-US" sz="24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2759" y="1394752"/>
            <a:ext cx="18002481" cy="1804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33"/>
              </a:lnSpc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GENERALIZATION AND SPECIALIZATION</a:t>
            </a:r>
          </a:p>
          <a:p>
            <a:pPr algn="l">
              <a:lnSpc>
                <a:spcPts val="8665"/>
              </a:lnSpc>
            </a:pPr>
            <a:endParaRPr lang="en-US" sz="3600" b="1" dirty="0">
              <a:solidFill>
                <a:schemeClr val="bg1"/>
              </a:solidFill>
              <a:latin typeface="Times New Roman" panose="02020603050405020304" pitchFamily="18" charset="0"/>
              <a:ea typeface="Times New Roman MT Condensed Bold"/>
              <a:cs typeface="Times New Roman" panose="02020603050405020304" pitchFamily="18" charset="0"/>
              <a:sym typeface="Times New Roman MT Condensed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19200" y="3086100"/>
            <a:ext cx="11750853" cy="7582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SPECIALIZATION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Divides one entity into multiple subgroups.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Example: Person → Student, Faculty, Staff.</a:t>
            </a:r>
          </a:p>
          <a:p>
            <a:pPr algn="l">
              <a:lnSpc>
                <a:spcPct val="150000"/>
              </a:lnSpc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GENERALIZATION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Combines similar entities into one superclass.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Reduces duplication of common attributes.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Makes the database easier to maintain.</a:t>
            </a:r>
          </a:p>
          <a:p>
            <a:pPr marL="798828" lvl="1" indent="-399414" algn="l">
              <a:lnSpc>
                <a:spcPct val="150000"/>
              </a:lnSpc>
              <a:buFont typeface="Arial"/>
              <a:buChar char="•"/>
            </a:pPr>
            <a:r>
              <a:rPr lang="en-US" sz="3699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Improves data organization.</a:t>
            </a:r>
          </a:p>
          <a:p>
            <a:pPr algn="l">
              <a:lnSpc>
                <a:spcPct val="150000"/>
              </a:lnSpc>
            </a:pPr>
            <a:endParaRPr lang="en-US" sz="3699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545056" y="589293"/>
            <a:ext cx="9572184" cy="1184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37"/>
              </a:lnSpc>
            </a:pPr>
            <a:r>
              <a:rPr lang="en-US" sz="8616" b="1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EER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0CAC5-9D9A-7DA1-4AEC-F3BE42AB32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93" y="1588462"/>
            <a:ext cx="14464013" cy="71100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7800" y="3848100"/>
            <a:ext cx="12048481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32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Introduction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32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Data independence means modifying one level of the database without affecting another.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32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It is a key feature of DBMS architecture.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32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It separates application programs from database changes.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32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Supports easy database maintenance.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32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Based on the three-schema architecture.</a:t>
            </a:r>
          </a:p>
          <a:p>
            <a:pPr marL="798828" lvl="1" indent="-399414" algn="l">
              <a:buFont typeface="Arial"/>
              <a:buChar char="•"/>
            </a:pPr>
            <a:r>
              <a:rPr lang="en-US" sz="32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Improves flexibility and scalability.</a:t>
            </a:r>
          </a:p>
          <a:p>
            <a:pPr algn="l"/>
            <a:endParaRPr lang="en-US" sz="32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-304800" y="1015323"/>
            <a:ext cx="17526291" cy="1554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13"/>
              </a:lnSpc>
              <a:spcBef>
                <a:spcPct val="0"/>
              </a:spcBef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3.PRESENT THE CONCEPT OF DATA INDEPENDENCE (LOGICAL AND</a:t>
            </a:r>
          </a:p>
          <a:p>
            <a:pPr algn="ctr">
              <a:lnSpc>
                <a:spcPts val="6513"/>
              </a:lnSpc>
              <a:spcBef>
                <a:spcPct val="0"/>
              </a:spcBef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PHYSICAL) AND ITS SIGNIFICANCE IN DBMS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86000" y="1562100"/>
            <a:ext cx="17827275" cy="83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43"/>
              </a:lnSpc>
            </a:pPr>
            <a:r>
              <a:rPr lang="en-US" sz="40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TYPES OF DATA INDEPENDENCE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90600" y="2857500"/>
            <a:ext cx="13174039" cy="6385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Physical Data Independence</a:t>
            </a:r>
          </a:p>
          <a:p>
            <a:pPr marL="896571" lvl="1" indent="-448286" algn="l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Changes physical storage methods.</a:t>
            </a:r>
          </a:p>
          <a:p>
            <a:pPr marL="896571" lvl="1" indent="-448286" algn="l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Logical schema remains unchanged.</a:t>
            </a:r>
          </a:p>
          <a:p>
            <a:pPr marL="896571" lvl="1" indent="-448286" algn="l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Example: Changing file organization.</a:t>
            </a: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Logical Data Independence</a:t>
            </a:r>
          </a:p>
          <a:p>
            <a:pPr marL="896571" lvl="1" indent="-448286" algn="l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Changes logical database structure.</a:t>
            </a:r>
          </a:p>
          <a:p>
            <a:pPr marL="896571" lvl="1" indent="-448286" algn="l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User applications continue working.</a:t>
            </a:r>
          </a:p>
          <a:p>
            <a:pPr marL="896571" lvl="1" indent="-448286" algn="l">
              <a:lnSpc>
                <a:spcPct val="150000"/>
              </a:lnSpc>
              <a:buFont typeface="Arial"/>
              <a:buChar char="•"/>
            </a:pPr>
            <a:r>
              <a:rPr lang="en-US" sz="2800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Example: Adding a new attribute.</a:t>
            </a:r>
          </a:p>
          <a:p>
            <a:pPr algn="l">
              <a:lnSpc>
                <a:spcPct val="150000"/>
              </a:lnSpc>
            </a:pPr>
            <a:endParaRPr lang="en-US" sz="2800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-2209800" y="1614916"/>
            <a:ext cx="18227763" cy="646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49"/>
              </a:lnSpc>
            </a:pPr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IMPORTANCE OF DATA INDEPENDENCE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66800" y="2933700"/>
            <a:ext cx="12754035" cy="6904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82234" lvl="1" indent="-441117" algn="l">
              <a:lnSpc>
                <a:spcPct val="150000"/>
              </a:lnSpc>
              <a:buFont typeface="Arial"/>
              <a:buChar char="•"/>
            </a:pPr>
            <a:r>
              <a:rPr lang="en-US" sz="4086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Simplifies database maintenance.</a:t>
            </a:r>
          </a:p>
          <a:p>
            <a:pPr marL="882234" lvl="1" indent="-441117" algn="l">
              <a:lnSpc>
                <a:spcPct val="150000"/>
              </a:lnSpc>
              <a:buFont typeface="Arial"/>
              <a:buChar char="•"/>
            </a:pPr>
            <a:r>
              <a:rPr lang="en-US" sz="4086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Reduces application modifications.</a:t>
            </a:r>
          </a:p>
          <a:p>
            <a:pPr marL="882234" lvl="1" indent="-441117" algn="l">
              <a:lnSpc>
                <a:spcPct val="150000"/>
              </a:lnSpc>
              <a:buFont typeface="Arial"/>
              <a:buChar char="•"/>
            </a:pPr>
            <a:r>
              <a:rPr lang="en-US" sz="4086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Supports future database expansion.</a:t>
            </a:r>
          </a:p>
          <a:p>
            <a:pPr marL="882234" lvl="1" indent="-441117" algn="l">
              <a:lnSpc>
                <a:spcPct val="150000"/>
              </a:lnSpc>
              <a:buFont typeface="Arial"/>
              <a:buChar char="•"/>
            </a:pPr>
            <a:r>
              <a:rPr lang="en-US" sz="4086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Improves system performance.</a:t>
            </a:r>
          </a:p>
          <a:p>
            <a:pPr marL="882234" lvl="1" indent="-441117" algn="l">
              <a:lnSpc>
                <a:spcPct val="150000"/>
              </a:lnSpc>
              <a:buFont typeface="Arial"/>
              <a:buChar char="•"/>
            </a:pPr>
            <a:r>
              <a:rPr lang="en-US" sz="4086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Protects user applications from internal changes.</a:t>
            </a:r>
          </a:p>
          <a:p>
            <a:pPr marL="882234" lvl="1" indent="-441117" algn="l">
              <a:lnSpc>
                <a:spcPct val="150000"/>
              </a:lnSpc>
              <a:buFont typeface="Arial"/>
              <a:buChar char="•"/>
            </a:pPr>
            <a:r>
              <a:rPr lang="en-US" sz="4086" dirty="0">
                <a:solidFill>
                  <a:srgbClr val="30303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Makes database management more efficient.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4086" dirty="0">
              <a:solidFill>
                <a:srgbClr val="30303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FFD03-8EB4-50C4-9A87-3A6AAF46E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38EDBD-7E1A-6F56-545D-A672FE8C0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510" y="1535117"/>
            <a:ext cx="14524979" cy="72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361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76300"/>
            <a:ext cx="16385459" cy="19652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4.DELIVER A TECHNICAL PRESENTATION ON THE SOFTWARE COMPONENTS</a:t>
            </a:r>
          </a:p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OF A DBMS, EXPLAINING QUERY PROCESSOR, STORAGE MANAGER,</a:t>
            </a:r>
          </a:p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AND TRANSACTION MANAGER.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198203" y="3698875"/>
            <a:ext cx="11378565" cy="5739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DBMS consists of different software modules.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These modules process, store, and manage data.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The three major components are: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Query Processor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Storage Manager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Transaction Manager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Each component performs a specific function.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Together they ensure efficient database operations.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2800" dirty="0">
              <a:solidFill>
                <a:srgbClr val="000000"/>
              </a:solidFill>
              <a:latin typeface="Times New Roman" panose="02020603050405020304" pitchFamily="18" charset="0"/>
              <a:ea typeface="Clear Sans Bold"/>
              <a:cs typeface="Times New Roman" panose="02020603050405020304" pitchFamily="18" charset="0"/>
              <a:sym typeface="Clear Sans 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7800" y="3009900"/>
            <a:ext cx="11730214" cy="679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Query Processor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Accepts SQL queries.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Checks syntax and validity.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Optimizes query execution.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Retrieves requested data efficiently.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Storage Manager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Manages files and indexes.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Controls data storage on disks.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Allocates memory space.</a:t>
            </a:r>
          </a:p>
          <a:p>
            <a:pPr marL="755651" lvl="1" indent="-377825" algn="l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Retrieves stored data quickly.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endParaRPr lang="en-US" sz="2800" dirty="0">
              <a:solidFill>
                <a:srgbClr val="00000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676400" y="3467100"/>
            <a:ext cx="9086493" cy="6366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3500" b="1" dirty="0">
                <a:solidFill>
                  <a:srgbClr val="000000"/>
                </a:solidFill>
                <a:latin typeface="Times New Roman" panose="02020603050405020304" pitchFamily="18" charset="0"/>
                <a:ea typeface="Clear Sans Bold"/>
                <a:cs typeface="Times New Roman" panose="02020603050405020304" pitchFamily="18" charset="0"/>
                <a:sym typeface="Clear Sans Bold"/>
              </a:rPr>
              <a:t>Transaction Manager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Manages multiple database transactions.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Ensures ACID properties.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Maintains data consistency.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Supports concurrent user access.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Handles Commit and Rollback operations.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Prevents data loss during failures.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endParaRPr lang="en-US" sz="3500" dirty="0">
              <a:solidFill>
                <a:srgbClr val="00000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751EB4-028F-8398-85A4-94D51CF2B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2B95B6-4A11-8929-C6D8-150F1F71D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803" y="1573220"/>
            <a:ext cx="14456393" cy="7140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3828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700" y="1028700"/>
            <a:ext cx="18116368" cy="1599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73"/>
              </a:lnSpc>
              <a:spcBef>
                <a:spcPct val="0"/>
              </a:spcBef>
            </a:pP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5.PREPARE A PRESENTATION COMPARING STRONG AND WEAK ENTITIES IN ER MODELING WITH REAL-WORLD EXAMPLES.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00233" y="3230038"/>
            <a:ext cx="10933629" cy="6366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Introduction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Entities represent real-world objects in a database.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They are classified as Strong or Weak entities.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Strong entities exist independently.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Weak entities depend on another entity.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Both are represented differently in ER diagrams.</a:t>
            </a:r>
          </a:p>
          <a:p>
            <a:pPr marL="755651" lvl="1" indent="-377825" algn="l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 dirty="0">
                <a:solidFill>
                  <a:srgbClr val="000000"/>
                </a:solidFill>
                <a:latin typeface="Times New Roman" panose="02020603050405020304" pitchFamily="18" charset="0"/>
                <a:ea typeface="Clear Sans"/>
                <a:cs typeface="Times New Roman" panose="02020603050405020304" pitchFamily="18" charset="0"/>
                <a:sym typeface="Clear Sans"/>
              </a:rPr>
              <a:t>They help define database relationships.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endParaRPr lang="en-US" sz="3500" dirty="0">
              <a:solidFill>
                <a:srgbClr val="000000"/>
              </a:solidFill>
              <a:latin typeface="Times New Roman" panose="02020603050405020304" pitchFamily="18" charset="0"/>
              <a:ea typeface="Clear Sans"/>
              <a:cs typeface="Times New Roman" panose="02020603050405020304" pitchFamily="18" charset="0"/>
              <a:sym typeface="Clear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38400" y="3238500"/>
            <a:ext cx="8839200" cy="73348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Canva Sans Bold"/>
                <a:cs typeface="Times New Roman" panose="02020603050405020304" pitchFamily="18" charset="0"/>
                <a:sym typeface="Canva Sans Bold"/>
              </a:rPr>
              <a:t>Strong Entity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Characteristics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Has its own primary key.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Exists independently.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Represented by a single rectangle.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Does not depend on another entity.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Examples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Student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Employee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Book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Customer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endParaRPr lang="en-US" sz="2800" dirty="0">
              <a:solidFill>
                <a:srgbClr val="000000"/>
              </a:solidFill>
              <a:latin typeface="Times New Roman" panose="02020603050405020304" pitchFamily="18" charset="0"/>
              <a:ea typeface="Canva Sans"/>
              <a:cs typeface="Times New Roman" panose="02020603050405020304" pitchFamily="18" charset="0"/>
              <a:sym typeface="Canva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24000" y="3162300"/>
            <a:ext cx="9887188" cy="733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Canva Sans Bold"/>
                <a:cs typeface="Times New Roman" panose="02020603050405020304" pitchFamily="18" charset="0"/>
                <a:sym typeface="Canva Sans Bold"/>
              </a:rPr>
              <a:t>Weak Entity</a:t>
            </a:r>
          </a:p>
          <a:p>
            <a:pPr algn="l">
              <a:lnSpc>
                <a:spcPts val="4759"/>
              </a:lnSpc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Characteristics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Has no complete primary key.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Depends on a strong entity.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Uses a partial key.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Represented by a double rectangle.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Connected using an identifying relationship.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Examples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Employee → Dependent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Order → Order Item</a:t>
            </a:r>
          </a:p>
          <a:p>
            <a:pPr marL="734059" lvl="1" indent="-367030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Canva Sans"/>
                <a:cs typeface="Times New Roman" panose="02020603050405020304" pitchFamily="18" charset="0"/>
                <a:sym typeface="Canva Sans"/>
              </a:rPr>
              <a:t>Library Member → Loan Record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ea typeface="Canva Sans"/>
              <a:cs typeface="Times New Roman" panose="02020603050405020304" pitchFamily="18" charset="0"/>
              <a:sym typeface="Canva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B9982-D02C-E4A8-8241-026B6493F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3298ED-2A22-0BED-4BBD-3A06D1091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55" y="2019300"/>
            <a:ext cx="14418289" cy="71024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9B288B-54CB-F095-2D9D-CC26AE22F372}"/>
              </a:ext>
            </a:extLst>
          </p:cNvPr>
          <p:cNvSpPr txBox="1"/>
          <p:nvPr/>
        </p:nvSpPr>
        <p:spPr>
          <a:xfrm>
            <a:off x="7239000" y="571500"/>
            <a:ext cx="323999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</p:spTree>
    <p:extLst>
      <p:ext uri="{BB962C8B-B14F-4D97-AF65-F5344CB8AC3E}">
        <p14:creationId xmlns:p14="http://schemas.microsoft.com/office/powerpoint/2010/main" val="17815223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0D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381588-E765-0302-9DDE-535250DA5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660AD18-41AD-930D-7D1A-38426035E01A}"/>
              </a:ext>
            </a:extLst>
          </p:cNvPr>
          <p:cNvSpPr txBox="1"/>
          <p:nvPr/>
        </p:nvSpPr>
        <p:spPr>
          <a:xfrm>
            <a:off x="5638800" y="5753100"/>
            <a:ext cx="9887188" cy="726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8800" b="1" dirty="0">
                <a:solidFill>
                  <a:srgbClr val="000000"/>
                </a:solidFill>
                <a:latin typeface="Times New Roman" panose="02020603050405020304" pitchFamily="18" charset="0"/>
                <a:ea typeface="Canva Sans Bold"/>
                <a:cs typeface="Times New Roman" panose="02020603050405020304" pitchFamily="18" charset="0"/>
                <a:sym typeface="Canva Sans Bold"/>
              </a:rPr>
              <a:t>THANK YOU</a:t>
            </a:r>
            <a:endParaRPr lang="en-US" sz="8800" dirty="0">
              <a:solidFill>
                <a:srgbClr val="000000"/>
              </a:solidFill>
              <a:latin typeface="Times New Roman" panose="02020603050405020304" pitchFamily="18" charset="0"/>
              <a:ea typeface="Canva Sans"/>
              <a:cs typeface="Times New Roman" panose="02020603050405020304" pitchFamily="18" charset="0"/>
              <a:sym typeface="Canva Sans"/>
            </a:endParaRPr>
          </a:p>
        </p:txBody>
      </p:sp>
    </p:spTree>
    <p:extLst>
      <p:ext uri="{BB962C8B-B14F-4D97-AF65-F5344CB8AC3E}">
        <p14:creationId xmlns:p14="http://schemas.microsoft.com/office/powerpoint/2010/main" val="14383614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103</TotalTime>
  <Words>670</Words>
  <Application>Microsoft Office PowerPoint</Application>
  <PresentationFormat>Custom</PresentationFormat>
  <Paragraphs>149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Times New Roman</vt:lpstr>
      <vt:lpstr>Times New Roman MT Condensed Bold</vt:lpstr>
      <vt:lpstr>Arial</vt:lpstr>
      <vt:lpstr>Century Gothic</vt:lpstr>
      <vt:lpstr>Wingdings 3</vt:lpstr>
      <vt:lpstr>Ion Boardroom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dbms technical presentation</dc:title>
  <dc:creator>panni durga</dc:creator>
  <cp:lastModifiedBy>panni durga</cp:lastModifiedBy>
  <cp:revision>4</cp:revision>
  <dcterms:created xsi:type="dcterms:W3CDTF">2006-08-16T00:00:00Z</dcterms:created>
  <dcterms:modified xsi:type="dcterms:W3CDTF">2026-07-22T09:09:10Z</dcterms:modified>
  <dc:identifier>DAHQCtKT__g</dc:identifier>
</cp:coreProperties>
</file>