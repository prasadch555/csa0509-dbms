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67" r:id="rId14"/>
    <p:sldId id="268" r:id="rId15"/>
    <p:sldId id="269" r:id="rId16"/>
    <p:sldId id="275" r:id="rId17"/>
    <p:sldId id="270" r:id="rId18"/>
    <p:sldId id="271" r:id="rId19"/>
    <p:sldId id="272" r:id="rId20"/>
    <p:sldId id="276" r:id="rId21"/>
    <p:sldId id="273" r:id="rId22"/>
  </p:sldIdLst>
  <p:sldSz cx="18288000" cy="10287000"/>
  <p:notesSz cx="6858000" cy="9144000"/>
  <p:embeddedFontLst>
    <p:embeddedFont>
      <p:font typeface="Century Gothic" panose="020B0502020202020204" pitchFamily="34" charset="0"/>
      <p:regular r:id="rId23"/>
      <p:bold r:id="rId24"/>
      <p:italic r:id="rId25"/>
      <p:boldItalic r:id="rId26"/>
    </p:embeddedFont>
    <p:embeddedFont>
      <p:font typeface="Times New Roman MT Condensed Bold" panose="020B0604020202020204" charset="0"/>
      <p:regular r:id="rId27"/>
    </p:embeddedFont>
    <p:embeddedFont>
      <p:font typeface="Wingdings 3" panose="05040102010807070707" pitchFamily="18" charset="2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433" y="3149600"/>
            <a:ext cx="13238487" cy="4016472"/>
          </a:xfrm>
        </p:spPr>
        <p:txBody>
          <a:bodyPr anchor="b"/>
          <a:lstStyle>
            <a:lvl1pPr>
              <a:defRPr sz="8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732433" y="7166070"/>
            <a:ext cx="13238487" cy="129213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5238477" y="2688337"/>
            <a:ext cx="1485899" cy="4571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13427964" y="4841749"/>
            <a:ext cx="5789693" cy="457202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528811" y="443594"/>
            <a:ext cx="1257299" cy="1151531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2432" y="3905250"/>
            <a:ext cx="13238489" cy="5124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8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4016468"/>
            <a:ext cx="6526538" cy="3425736"/>
          </a:xfrm>
        </p:spPr>
        <p:txBody>
          <a:bodyPr anchor="ctr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3339" y="4016466"/>
            <a:ext cx="5636318" cy="3425736"/>
          </a:xfrm>
        </p:spPr>
        <p:txBody>
          <a:bodyPr anchor="ctr"/>
          <a:lstStyle>
            <a:lvl1pPr marL="0" indent="0" algn="l">
              <a:buNone/>
              <a:defRPr sz="3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8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31" y="3905251"/>
            <a:ext cx="7237737" cy="512445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13069" y="3905250"/>
            <a:ext cx="7237739" cy="51244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9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3905250"/>
            <a:ext cx="7237736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2431" y="4769644"/>
            <a:ext cx="7237737" cy="426005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13069" y="3905250"/>
            <a:ext cx="723773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13069" y="4769644"/>
            <a:ext cx="7237739" cy="4260059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9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142120" cy="106044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99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1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3" y="1943100"/>
            <a:ext cx="4189737" cy="2400300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1719" y="2171700"/>
            <a:ext cx="7785099" cy="6858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732431" y="4693921"/>
            <a:ext cx="4189737" cy="4343399"/>
          </a:xfrm>
        </p:spPr>
        <p:txBody>
          <a:bodyPr/>
          <a:lstStyle>
            <a:lvl1pPr marL="0" indent="0">
              <a:buNone/>
              <a:defRPr sz="21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51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3" y="2540000"/>
            <a:ext cx="5797701" cy="2603501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21806" y="1714500"/>
            <a:ext cx="4840790" cy="685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732431" y="5486400"/>
            <a:ext cx="5788818" cy="20574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7454891"/>
            <a:ext cx="13238489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32432" y="1028700"/>
            <a:ext cx="13238489" cy="5143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1" y="8304998"/>
            <a:ext cx="13238487" cy="74056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3197" y="1595126"/>
            <a:ext cx="13247724" cy="2059479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314950"/>
            <a:ext cx="13238489" cy="371475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23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1322349" y="911004"/>
            <a:ext cx="12028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4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14826688" y="3920681"/>
            <a:ext cx="9791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4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2817" y="1473201"/>
            <a:ext cx="12680859" cy="4044948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2918918" y="5518149"/>
            <a:ext cx="11596829" cy="513261"/>
          </a:xfrm>
        </p:spPr>
        <p:txBody>
          <a:bodyPr anchor="t">
            <a:normAutofit/>
          </a:bodyPr>
          <a:lstStyle>
            <a:lvl1pPr marL="0" indent="0">
              <a:buNone/>
              <a:defRPr lang="en-US" sz="21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7543799"/>
            <a:ext cx="13867346" cy="1496786"/>
          </a:xfrm>
        </p:spPr>
        <p:txBody>
          <a:bodyPr anchor="ctr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91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1" y="3556001"/>
            <a:ext cx="13238490" cy="2733771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7537451"/>
            <a:ext cx="13238489" cy="1290600"/>
          </a:xfrm>
        </p:spPr>
        <p:txBody>
          <a:bodyPr anchor="t"/>
          <a:lstStyle>
            <a:lvl1pPr marL="0" indent="0" algn="l">
              <a:buNone/>
              <a:defRPr sz="3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11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238489" cy="1060446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1" y="3905253"/>
            <a:ext cx="471281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732430" y="4769647"/>
            <a:ext cx="4712819" cy="427094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69082" y="3905250"/>
            <a:ext cx="4720514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6769082" y="4769645"/>
            <a:ext cx="4720514" cy="427094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832203" y="3905252"/>
            <a:ext cx="471859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832494" y="4769643"/>
            <a:ext cx="4718304" cy="4270940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605956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1658602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10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238489" cy="1060446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1" y="6799266"/>
            <a:ext cx="457565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2001830" y="3905250"/>
            <a:ext cx="4036863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732431" y="7663659"/>
            <a:ext cx="4575657" cy="137692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53298" y="6799267"/>
            <a:ext cx="4575657" cy="864395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7122694" y="3905250"/>
            <a:ext cx="4036865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6855258" y="7663658"/>
            <a:ext cx="4575657" cy="137692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974163" y="6799268"/>
            <a:ext cx="4576643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2244547" y="3905250"/>
            <a:ext cx="4036863" cy="2387265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974163" y="7663656"/>
            <a:ext cx="4576644" cy="137692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6608747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11696703" y="3854450"/>
            <a:ext cx="0" cy="523874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41667" y="9587758"/>
            <a:ext cx="5466423" cy="45720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68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1460502"/>
            <a:ext cx="13238489" cy="10604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32" y="3905250"/>
            <a:ext cx="13238489" cy="512445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043159" y="9587758"/>
            <a:ext cx="1485899" cy="4571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992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77853" y="1917701"/>
            <a:ext cx="2114948" cy="712288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32" y="1917701"/>
            <a:ext cx="9384038" cy="71228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979657" y="9587758"/>
            <a:ext cx="1488203" cy="4571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66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732432" y="1460502"/>
            <a:ext cx="13142120" cy="10604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3905250"/>
            <a:ext cx="13142120" cy="512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979657" y="9587758"/>
            <a:ext cx="1485899" cy="4571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1" i="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1666" y="9587758"/>
            <a:ext cx="5789693" cy="4572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528811" y="443594"/>
            <a:ext cx="1257299" cy="11515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3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5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1066800" y="4708050"/>
            <a:ext cx="16795709" cy="1950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76"/>
              </a:lnSpc>
            </a:pPr>
            <a:r>
              <a:rPr lang="en-US" sz="4400" b="1" dirty="0">
                <a:solidFill>
                  <a:srgbClr val="30303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CASE-BASED SCENARIOS BY IDENTIFYING ENTITIES AND</a:t>
            </a:r>
          </a:p>
          <a:p>
            <a:pPr algn="ctr">
              <a:lnSpc>
                <a:spcPts val="8076"/>
              </a:lnSpc>
            </a:pPr>
            <a:r>
              <a:rPr lang="en-US" sz="4400" b="1" dirty="0">
                <a:solidFill>
                  <a:srgbClr val="30303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RELATIONSHIPS.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11135" y="6771244"/>
            <a:ext cx="8865731" cy="48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3699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CSA0509-DBMS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96497D-56C2-D49D-DDFC-99399179B2F4}"/>
              </a:ext>
            </a:extLst>
          </p:cNvPr>
          <p:cNvSpPr txBox="1"/>
          <p:nvPr/>
        </p:nvSpPr>
        <p:spPr>
          <a:xfrm>
            <a:off x="13411200" y="8343900"/>
            <a:ext cx="40182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Durga Prasad(192425305)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8C2932-973E-A86F-4155-9A0D6964DD22}"/>
              </a:ext>
            </a:extLst>
          </p:cNvPr>
          <p:cNvSpPr txBox="1"/>
          <p:nvPr/>
        </p:nvSpPr>
        <p:spPr>
          <a:xfrm>
            <a:off x="2286000" y="8572500"/>
            <a:ext cx="21425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 . Kesavan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DEE76D-B5ED-58AA-C5B6-2B6A3CFAAA6E}"/>
              </a:ext>
            </a:extLst>
          </p:cNvPr>
          <p:cNvSpPr txBox="1"/>
          <p:nvPr/>
        </p:nvSpPr>
        <p:spPr>
          <a:xfrm>
            <a:off x="6019800" y="3619899"/>
            <a:ext cx="71706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 Technical Presentation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0" y="3899873"/>
            <a:ext cx="14020800" cy="3811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8828" lvl="1" indent="-399414">
              <a:lnSpc>
                <a:spcPct val="150000"/>
              </a:lnSpc>
              <a:buFont typeface="Arial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Library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computerized system that manages books, members, and library operations efficiently. </a:t>
            </a:r>
          </a:p>
          <a:p>
            <a:pPr marL="798828" lvl="1" indent="-399414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database for storing book details, member information, and transaction records. </a:t>
            </a:r>
          </a:p>
          <a:p>
            <a:pPr marL="798828" lvl="1" indent="-399414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processes such as book search, issue, return, and fine calculation, reducing manual effort.</a:t>
            </a:r>
          </a:p>
          <a:p>
            <a:pPr marL="798828" lvl="1" indent="-399414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visually represents the entities, attributes, and relationships involved in the library database.</a:t>
            </a:r>
            <a:endParaRPr lang="en-US" sz="2400" dirty="0">
              <a:solidFill>
                <a:srgbClr val="30303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-1963961" y="1366072"/>
            <a:ext cx="21222889" cy="1527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32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1.CREATE AND PRESENT AN ER DIAGRAM FOR AN ONLINE LIBRARY</a:t>
            </a:r>
          </a:p>
          <a:p>
            <a:pPr algn="ctr">
              <a:lnSpc>
                <a:spcPts val="6132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SYSTEM, EXPLAINING EACH COMPONENT CLEARLY.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0400" y="1257300"/>
            <a:ext cx="16367178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1"/>
              </a:lnSpc>
            </a:pP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ER DIAGRAM COMPONENTS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28800" y="3314700"/>
            <a:ext cx="11737815" cy="6647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Entities: Real-world object (Book, Member)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Member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Book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Librarian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Loan</a:t>
            </a:r>
          </a:p>
          <a:p>
            <a:pPr algn="l"/>
            <a:endParaRPr lang="en-US" sz="2400" dirty="0">
              <a:solidFill>
                <a:srgbClr val="30303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  <a:p>
            <a:pPr algn="l"/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Attributes: Describes an entity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Member ID, Name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Book ID, Title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Loan Date, Return Date</a:t>
            </a:r>
          </a:p>
          <a:p>
            <a:pPr marL="798828" lvl="1" indent="-399414" algn="l">
              <a:buFont typeface="Arial"/>
              <a:buChar char="•"/>
            </a:pPr>
            <a:endParaRPr lang="en-US" sz="2400" dirty="0">
              <a:solidFill>
                <a:srgbClr val="30303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  <a:p>
            <a:pPr algn="l"/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Relationships: Connects entities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Member borrows Book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Librarian manages Loan</a:t>
            </a:r>
          </a:p>
          <a:p>
            <a:pPr algn="l"/>
            <a:endParaRPr lang="en-US" sz="2400" dirty="0">
              <a:solidFill>
                <a:srgbClr val="30303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  <a:p>
            <a:pPr algn="l"/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Primary Key: Unique identifier (Book ID, Member ID)</a:t>
            </a:r>
          </a:p>
          <a:p>
            <a:pPr algn="l"/>
            <a:endParaRPr lang="en-US" sz="2400" dirty="0">
              <a:solidFill>
                <a:srgbClr val="30303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  <a:p>
            <a:pPr algn="l"/>
            <a:endParaRPr lang="en-US" sz="2400" dirty="0">
              <a:solidFill>
                <a:srgbClr val="30303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704394" y="323356"/>
            <a:ext cx="9572184" cy="141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65"/>
              </a:lnSpc>
            </a:pPr>
            <a:r>
              <a:rPr lang="en-US" sz="10315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ER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2422C2-35AB-3838-FF93-61E2E4E8A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72" y="2324100"/>
            <a:ext cx="14479255" cy="72015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1104900"/>
            <a:ext cx="14935200" cy="1577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33"/>
              </a:lnSpc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2.PREPARE A PRESENTATION ON THE EER MODEL, DEMONSTRATING GENERALIZATION AND SPECIALIZATION WITH A UNIVERSITY CASE</a:t>
            </a:r>
          </a:p>
          <a:p>
            <a:pPr algn="l">
              <a:lnSpc>
                <a:spcPts val="3116"/>
              </a:lnSpc>
            </a:pP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Times New Roman MT Condensed Bold"/>
              <a:cs typeface="Times New Roman" panose="02020603050405020304" pitchFamily="18" charset="0"/>
              <a:sym typeface="Times New Roman MT Condensed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905000" y="4000500"/>
            <a:ext cx="12395200" cy="4365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8828" lvl="1" indent="-399414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Entity-Relationship (EER)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the traditional ER model with advanced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features.</a:t>
            </a:r>
          </a:p>
          <a:p>
            <a:pPr marL="798828" lvl="1" indent="-399414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concepts such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generalization, specialization, and inheritance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represent complex real-world scenarios. </a:t>
            </a:r>
          </a:p>
          <a:p>
            <a:pPr marL="798828" lvl="1" indent="-399414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EER model helps reduce data redundancy by allowing common attributes to be shared among related entities. </a:t>
            </a:r>
          </a:p>
          <a:p>
            <a:pPr marL="798828" lvl="1" indent="-399414">
              <a:lnSpc>
                <a:spcPct val="150000"/>
              </a:lnSpc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Management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common entity like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specialized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rgbClr val="30303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03904" y="1152525"/>
            <a:ext cx="12037072" cy="822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2"/>
              </a:lnSpc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UNIVERSITY CASE STUDY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76400" y="3225165"/>
            <a:ext cx="13942477" cy="590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Superclass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Person</a:t>
            </a:r>
          </a:p>
          <a:p>
            <a:pPr algn="l"/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Specialized Subclasses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Student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Faculty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Staff</a:t>
            </a:r>
          </a:p>
          <a:p>
            <a:pPr algn="l"/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Each subclass inherits: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Person ID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Name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Address</a:t>
            </a:r>
          </a:p>
          <a:p>
            <a:pPr algn="l"/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Additional attributes: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Student → Semester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Faculty → Department</a:t>
            </a:r>
          </a:p>
          <a:p>
            <a:pPr marL="798828" lvl="1" indent="-399414" algn="l">
              <a:buFont typeface="Arial"/>
              <a:buChar char="•"/>
            </a:pPr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Staff → Designation</a:t>
            </a:r>
          </a:p>
          <a:p>
            <a:pPr marL="798828" lvl="1" indent="-399414" algn="l">
              <a:buFont typeface="Arial"/>
              <a:buChar char="•"/>
            </a:pPr>
            <a:endParaRPr lang="en-US" sz="2400" dirty="0">
              <a:solidFill>
                <a:srgbClr val="30303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759" y="1394752"/>
            <a:ext cx="18002481" cy="1804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33"/>
              </a:lnSpc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GENERALIZATION AND SPECIALIZATION</a:t>
            </a:r>
          </a:p>
          <a:p>
            <a:pPr algn="l">
              <a:lnSpc>
                <a:spcPts val="8665"/>
              </a:lnSpc>
            </a:pP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Times New Roman MT Condensed Bold"/>
              <a:cs typeface="Times New Roman" panose="02020603050405020304" pitchFamily="18" charset="0"/>
              <a:sym typeface="Times New Roman MT Condensed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19200" y="3086100"/>
            <a:ext cx="11750853" cy="7582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99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SPECIALIZATION</a:t>
            </a:r>
          </a:p>
          <a:p>
            <a:pPr marL="798828" lvl="1" indent="-399414" algn="l">
              <a:lnSpc>
                <a:spcPct val="150000"/>
              </a:lnSpc>
              <a:buFont typeface="Arial"/>
              <a:buChar char="•"/>
            </a:pPr>
            <a:r>
              <a:rPr lang="en-US" sz="3699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Divides one entity into multiple subgroups.</a:t>
            </a:r>
          </a:p>
          <a:p>
            <a:pPr marL="798828" lvl="1" indent="-399414" algn="l">
              <a:lnSpc>
                <a:spcPct val="150000"/>
              </a:lnSpc>
              <a:buFont typeface="Arial"/>
              <a:buChar char="•"/>
            </a:pPr>
            <a:r>
              <a:rPr lang="en-US" sz="3699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Example: Person → Student, Faculty, Staff.</a:t>
            </a:r>
          </a:p>
          <a:p>
            <a:pPr algn="l">
              <a:lnSpc>
                <a:spcPct val="150000"/>
              </a:lnSpc>
            </a:pPr>
            <a:r>
              <a:rPr lang="en-US" sz="3699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GENERALIZATION</a:t>
            </a:r>
          </a:p>
          <a:p>
            <a:pPr marL="798828" lvl="1" indent="-399414" algn="l">
              <a:lnSpc>
                <a:spcPct val="150000"/>
              </a:lnSpc>
              <a:buFont typeface="Arial"/>
              <a:buChar char="•"/>
            </a:pPr>
            <a:r>
              <a:rPr lang="en-US" sz="3699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Combines similar entities into one superclass.</a:t>
            </a:r>
          </a:p>
          <a:p>
            <a:pPr marL="798828" lvl="1" indent="-399414" algn="l">
              <a:lnSpc>
                <a:spcPct val="150000"/>
              </a:lnSpc>
              <a:buFont typeface="Arial"/>
              <a:buChar char="•"/>
            </a:pPr>
            <a:r>
              <a:rPr lang="en-US" sz="3699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Reduces duplication of common attributes.</a:t>
            </a:r>
          </a:p>
          <a:p>
            <a:pPr marL="798828" lvl="1" indent="-399414" algn="l">
              <a:lnSpc>
                <a:spcPct val="150000"/>
              </a:lnSpc>
              <a:buFont typeface="Arial"/>
              <a:buChar char="•"/>
            </a:pPr>
            <a:r>
              <a:rPr lang="en-US" sz="3699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Makes the database easier to maintain.</a:t>
            </a:r>
          </a:p>
          <a:p>
            <a:pPr marL="798828" lvl="1" indent="-399414" algn="l">
              <a:lnSpc>
                <a:spcPct val="150000"/>
              </a:lnSpc>
              <a:buFont typeface="Arial"/>
              <a:buChar char="•"/>
            </a:pPr>
            <a:r>
              <a:rPr lang="en-US" sz="3699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Improves data organization.</a:t>
            </a:r>
          </a:p>
          <a:p>
            <a:pPr algn="l">
              <a:lnSpc>
                <a:spcPct val="150000"/>
              </a:lnSpc>
            </a:pPr>
            <a:endParaRPr lang="en-US" sz="3699" dirty="0">
              <a:solidFill>
                <a:srgbClr val="30303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545056" y="589293"/>
            <a:ext cx="9572184" cy="1184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7"/>
              </a:lnSpc>
            </a:pPr>
            <a:r>
              <a:rPr lang="en-US" sz="8616" b="1">
                <a:solidFill>
                  <a:srgbClr val="30303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EER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C0CAC5-9D9A-7DA1-4AEC-F3BE42AB3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93" y="1588462"/>
            <a:ext cx="14464013" cy="71100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57400" y="3771900"/>
            <a:ext cx="12048481" cy="436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ability to change the database schema without affecting application programs.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key feature of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three-level DBMS architecture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separation between data storage and user applications.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independence is classified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changes to the conceptual schema without affecting external views or application programs.</a:t>
            </a:r>
            <a:endParaRPr lang="en-US" sz="2400" dirty="0">
              <a:solidFill>
                <a:srgbClr val="30303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-304800" y="1015323"/>
            <a:ext cx="17526291" cy="155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13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3.PRESENT THE CONCEPT OF DATA INDEPENDENCE (LOGICAL AND</a:t>
            </a:r>
          </a:p>
          <a:p>
            <a:pPr algn="ctr">
              <a:lnSpc>
                <a:spcPts val="6513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PHYSICAL) AND ITS SIGNIFICANCE IN DBMS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86000" y="1562100"/>
            <a:ext cx="17827275" cy="83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43"/>
              </a:lnSpc>
            </a:pP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TYPES OF DATA INDEPENDENCE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2857500"/>
            <a:ext cx="13174039" cy="638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Physical Data Independence</a:t>
            </a:r>
          </a:p>
          <a:p>
            <a:pPr marL="896571" lvl="1" indent="-448286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Changes physical storage methods.</a:t>
            </a:r>
          </a:p>
          <a:p>
            <a:pPr marL="896571" lvl="1" indent="-448286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Logical schema remains unchanged.</a:t>
            </a:r>
          </a:p>
          <a:p>
            <a:pPr marL="896571" lvl="1" indent="-448286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Example: Changing file organization.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Logical Data Independence</a:t>
            </a:r>
          </a:p>
          <a:p>
            <a:pPr marL="896571" lvl="1" indent="-448286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Changes logical database structure.</a:t>
            </a:r>
          </a:p>
          <a:p>
            <a:pPr marL="896571" lvl="1" indent="-448286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User applications continue working.</a:t>
            </a:r>
          </a:p>
          <a:p>
            <a:pPr marL="896571" lvl="1" indent="-448286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Example: Adding a new attribute.</a:t>
            </a:r>
          </a:p>
          <a:p>
            <a:pPr algn="l">
              <a:lnSpc>
                <a:spcPct val="150000"/>
              </a:lnSpc>
            </a:pPr>
            <a:endParaRPr lang="en-US" sz="2800" dirty="0">
              <a:solidFill>
                <a:srgbClr val="30303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209800" y="1614916"/>
            <a:ext cx="18227763" cy="646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9"/>
              </a:lnSpc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IMPORTANCE OF DATA INDEPENDENCE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2933700"/>
            <a:ext cx="12754035" cy="6904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2234" lvl="1" indent="-441117" algn="l">
              <a:lnSpc>
                <a:spcPct val="150000"/>
              </a:lnSpc>
              <a:buFont typeface="Arial"/>
              <a:buChar char="•"/>
            </a:pPr>
            <a:r>
              <a:rPr lang="en-US" sz="4086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Simplifies database maintenance.</a:t>
            </a:r>
          </a:p>
          <a:p>
            <a:pPr marL="882234" lvl="1" indent="-441117" algn="l">
              <a:lnSpc>
                <a:spcPct val="150000"/>
              </a:lnSpc>
              <a:buFont typeface="Arial"/>
              <a:buChar char="•"/>
            </a:pPr>
            <a:r>
              <a:rPr lang="en-US" sz="4086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Reduces application modifications.</a:t>
            </a:r>
          </a:p>
          <a:p>
            <a:pPr marL="882234" lvl="1" indent="-441117" algn="l">
              <a:lnSpc>
                <a:spcPct val="150000"/>
              </a:lnSpc>
              <a:buFont typeface="Arial"/>
              <a:buChar char="•"/>
            </a:pPr>
            <a:r>
              <a:rPr lang="en-US" sz="4086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Supports future database expansion.</a:t>
            </a:r>
          </a:p>
          <a:p>
            <a:pPr marL="882234" lvl="1" indent="-441117" algn="l">
              <a:lnSpc>
                <a:spcPct val="150000"/>
              </a:lnSpc>
              <a:buFont typeface="Arial"/>
              <a:buChar char="•"/>
            </a:pPr>
            <a:r>
              <a:rPr lang="en-US" sz="4086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Improves system performance.</a:t>
            </a:r>
          </a:p>
          <a:p>
            <a:pPr marL="882234" lvl="1" indent="-441117" algn="l">
              <a:lnSpc>
                <a:spcPct val="150000"/>
              </a:lnSpc>
              <a:buFont typeface="Arial"/>
              <a:buChar char="•"/>
            </a:pPr>
            <a:r>
              <a:rPr lang="en-US" sz="4086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Protects user applications from internal changes.</a:t>
            </a:r>
          </a:p>
          <a:p>
            <a:pPr marL="882234" lvl="1" indent="-441117" algn="l">
              <a:lnSpc>
                <a:spcPct val="150000"/>
              </a:lnSpc>
              <a:buFont typeface="Arial"/>
              <a:buChar char="•"/>
            </a:pPr>
            <a:r>
              <a:rPr lang="en-US" sz="4086" dirty="0">
                <a:solidFill>
                  <a:srgbClr val="30303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Makes database management more efficient.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endParaRPr lang="en-US" sz="4086" dirty="0">
              <a:solidFill>
                <a:srgbClr val="30303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FFD03-8EB4-50C4-9A87-3A6AAF46E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38EDBD-7E1A-6F56-545D-A672FE8C0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510" y="1535117"/>
            <a:ext cx="14524979" cy="721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61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76300"/>
            <a:ext cx="16385459" cy="196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4.DELIVER A TECHNICAL PRESENTATION ON THE SOFTWARE COMPONENTS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OF A DBMS, EXPLAINING QUERY PROCESSOR, STORAGE MANAGER,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AND TRANSACTION MANAGER.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86000" y="3924300"/>
            <a:ext cx="11378565" cy="436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software used to store, organize, and manage data efficiently.</a:t>
            </a:r>
          </a:p>
          <a:p>
            <a:pPr marL="755651" lvl="1" indent="-377825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consists of different software components that work together to process database operations. </a:t>
            </a:r>
          </a:p>
          <a:p>
            <a:pPr marL="755651" lvl="1" indent="-377825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interprets and executes SQL queries submitted by users.</a:t>
            </a:r>
          </a:p>
          <a:p>
            <a:pPr marL="755651" lvl="1" indent="-377825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how data is stored, retrieved, and organized on the disk</a:t>
            </a:r>
          </a:p>
          <a:p>
            <a:pPr marL="755651" lvl="1" indent="-377825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that database transactions are completed correctly and maintains data consistency.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lear Sans Bold"/>
              <a:cs typeface="Times New Roman" panose="02020603050405020304" pitchFamily="18" charset="0"/>
              <a:sym typeface="Clear Sans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7800" y="3009900"/>
            <a:ext cx="11730214" cy="679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lear Sans Bold"/>
                <a:cs typeface="Times New Roman" panose="02020603050405020304" pitchFamily="18" charset="0"/>
                <a:sym typeface="Clear Sans Bold"/>
              </a:rPr>
              <a:t>Query Processor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Accepts SQL queries.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Checks syntax and validity.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Optimizes query execution.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Retrieves requested data efficiently.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lear Sans Bold"/>
                <a:cs typeface="Times New Roman" panose="02020603050405020304" pitchFamily="18" charset="0"/>
                <a:sym typeface="Clear Sans Bold"/>
              </a:rPr>
              <a:t>Storage Manager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Manages files and indexes.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Controls data storage on disks.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Allocates memory space.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Retrieves stored data quickly.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6400" y="3467100"/>
            <a:ext cx="9086493" cy="6366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" panose="02020603050405020304" pitchFamily="18" charset="0"/>
                <a:ea typeface="Clear Sans Bold"/>
                <a:cs typeface="Times New Roman" panose="02020603050405020304" pitchFamily="18" charset="0"/>
                <a:sym typeface="Clear Sans Bold"/>
              </a:rPr>
              <a:t>Transaction Manager</a:t>
            </a:r>
          </a:p>
          <a:p>
            <a:pPr marL="755651" lvl="1" indent="-377825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Manages multiple database transactions.</a:t>
            </a:r>
          </a:p>
          <a:p>
            <a:pPr marL="755651" lvl="1" indent="-377825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Ensures ACID properties.</a:t>
            </a:r>
          </a:p>
          <a:p>
            <a:pPr marL="755651" lvl="1" indent="-377825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Maintains data consistency.</a:t>
            </a:r>
          </a:p>
          <a:p>
            <a:pPr marL="755651" lvl="1" indent="-377825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Supports concurrent user access.</a:t>
            </a:r>
          </a:p>
          <a:p>
            <a:pPr marL="755651" lvl="1" indent="-377825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Handles Commit and Rollback operations.</a:t>
            </a:r>
          </a:p>
          <a:p>
            <a:pPr marL="755651" lvl="1" indent="-377825" algn="l">
              <a:lnSpc>
                <a:spcPct val="1500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Clear Sans"/>
                <a:cs typeface="Times New Roman" panose="02020603050405020304" pitchFamily="18" charset="0"/>
                <a:sym typeface="Clear Sans"/>
              </a:rPr>
              <a:t>Prevents data loss during failures.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51EB4-028F-8398-85A4-94D51CF2B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2B95B6-4A11-8929-C6D8-150F1F71D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803" y="1573220"/>
            <a:ext cx="14456393" cy="714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82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700" y="1028700"/>
            <a:ext cx="18116368" cy="1599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3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5.PREPARE A PRESENTATION COMPARING STRONG AND WEAK ENTITIES IN ER MODELING WITH REAL-WORLD EXAMPLES.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86000" y="4076700"/>
            <a:ext cx="10933629" cy="3257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a real-world object, person, place, or thing in a database. 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classifies entities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its own primary key and can exist independently. 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have a complete primary key and depends on a strong entity for identification. 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and weak entities help represent real-world relationships more accurately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lear Sans"/>
              <a:cs typeface="Times New Roman" panose="02020603050405020304" pitchFamily="18" charset="0"/>
              <a:sym typeface="Clear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8400" y="3238500"/>
            <a:ext cx="8839200" cy="7334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Strong Entity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Characteristics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Has its own primary key.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Exists independently.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Represented by a single rectangle.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Does not depend on another entity.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Examples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Student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Employee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Book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Customer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0" y="3162300"/>
            <a:ext cx="9887188" cy="7334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Weak Entity</a:t>
            </a:r>
          </a:p>
          <a:p>
            <a:pPr algn="l">
              <a:lnSpc>
                <a:spcPts val="4759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Characteristics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Has no complete primary key.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Depends on a strong entity.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Uses a partial key.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Represented by a double rectangle.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Connected using an identifying relationship.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Examples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Employee → Dependent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Order → Order Item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nva Sans"/>
                <a:cs typeface="Times New Roman" panose="02020603050405020304" pitchFamily="18" charset="0"/>
                <a:sym typeface="Canva Sans"/>
              </a:rPr>
              <a:t>Library Member → Loan Record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B9982-D02C-E4A8-8241-026B6493F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3298ED-2A22-0BED-4BBD-3A06D1091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55" y="2019300"/>
            <a:ext cx="14418289" cy="7102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9B288B-54CB-F095-2D9D-CC26AE22F372}"/>
              </a:ext>
            </a:extLst>
          </p:cNvPr>
          <p:cNvSpPr txBox="1"/>
          <p:nvPr/>
        </p:nvSpPr>
        <p:spPr>
          <a:xfrm>
            <a:off x="7239000" y="571500"/>
            <a:ext cx="32399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1781522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0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81588-E765-0302-9DDE-535250DA5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660AD18-41AD-930D-7D1A-38426035E01A}"/>
              </a:ext>
            </a:extLst>
          </p:cNvPr>
          <p:cNvSpPr txBox="1"/>
          <p:nvPr/>
        </p:nvSpPr>
        <p:spPr>
          <a:xfrm>
            <a:off x="5638800" y="5753100"/>
            <a:ext cx="9887188" cy="72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THANK YOU</a:t>
            </a:r>
            <a:endParaRPr lang="en-US" sz="8800" dirty="0">
              <a:solidFill>
                <a:srgbClr val="000000"/>
              </a:solidFill>
              <a:latin typeface="Times New Roman" panose="02020603050405020304" pitchFamily="18" charset="0"/>
              <a:ea typeface="Canva Sans"/>
              <a:cs typeface="Times New Roman" panose="02020603050405020304" pitchFamily="18" charset="0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14383614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119</TotalTime>
  <Words>858</Words>
  <Application>Microsoft Office PowerPoint</Application>
  <PresentationFormat>Custom</PresentationFormat>
  <Paragraphs>140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Century Gothic</vt:lpstr>
      <vt:lpstr>Times New Roman MT Condensed Bold</vt:lpstr>
      <vt:lpstr>Wingdings 3</vt:lpstr>
      <vt:lpstr>Times New Roman</vt:lpstr>
      <vt:lpstr>Arial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 technical presentation</dc:title>
  <dc:creator>panni durga</dc:creator>
  <cp:lastModifiedBy>panni durga</cp:lastModifiedBy>
  <cp:revision>7</cp:revision>
  <dcterms:created xsi:type="dcterms:W3CDTF">2006-08-16T00:00:00Z</dcterms:created>
  <dcterms:modified xsi:type="dcterms:W3CDTF">2026-07-24T02:33:57Z</dcterms:modified>
  <dc:identifier>DAHQCtKT__g</dc:identifier>
</cp:coreProperties>
</file>